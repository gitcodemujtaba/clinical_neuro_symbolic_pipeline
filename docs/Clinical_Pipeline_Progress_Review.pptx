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2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  <Relationship Id="rId23" Type="http://schemas.openxmlformats.org/officeDocument/2006/relationships/slide" Target="slides/slide17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Combined linked_recall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24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Gap 1-3
(initial)</c:v>
                  </c:pt>
                  <c:pt idx="1">
                    <c:v>Refinement
(regression)</c:v>
                  </c:pt>
                  <c:pt idx="2">
                    <c:v>Reverted
(safe design)</c:v>
                  </c:pt>
                  <c:pt idx="3">
                    <c:v>+ Gap 4
(lab values)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10.78</c:v>
                </c:pt>
                <c:pt idx="1">
                  <c:v>9.72</c:v>
                </c:pt>
                <c:pt idx="2">
                  <c:v>11.14</c:v>
                </c:pt>
                <c:pt idx="3">
                  <c:v>11.26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724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char-IoU</c:v>
                </c:pt>
              </c:strCache>
            </c:strRef>
          </c:tx>
          <c:spPr>
            <a:solidFill>
              <a:srgbClr val="E870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Us
(internal)</c:v>
                  </c:pt>
                  <c:pt idx="1">
                    <c:v>Ref. baseline
(#5)</c:v>
                  </c:pt>
                  <c:pt idx="2">
                    <c:v>MITEL-UNIUD
(#4)</c:v>
                  </c:pt>
                  <c:pt idx="3">
                    <c:v>Super Dict.
(#3, ref)</c:v>
                  </c:pt>
                  <c:pt idx="4">
                    <c:v>STLabs
(#2)</c:v>
                  </c:pt>
                  <c:pt idx="5">
                    <c:v>adityakadam
(#1)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0.098</c:v>
                </c:pt>
                <c:pt idx="1">
                  <c:v>0.2321</c:v>
                </c:pt>
                <c:pt idx="2">
                  <c:v>0.4085</c:v>
                </c:pt>
                <c:pt idx="3">
                  <c:v>0.4582</c:v>
                </c:pt>
                <c:pt idx="4">
                  <c:v>0.4636</c:v>
                </c:pt>
                <c:pt idx="5">
                  <c:v>0.4657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Weighted char-IoU</c:v>
                </c:pt>
              </c:strCache>
            </c:strRef>
          </c:tx>
          <c:spPr>
            <a:solidFill>
              <a:srgbClr val="0B3D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Us
(internal)</c:v>
                  </c:pt>
                  <c:pt idx="1">
                    <c:v>Ref. baseline
(#5)</c:v>
                  </c:pt>
                  <c:pt idx="2">
                    <c:v>MITEL-UNIUD
(#4)</c:v>
                  </c:pt>
                  <c:pt idx="3">
                    <c:v>Super Dict.
(#3, ref)</c:v>
                  </c:pt>
                  <c:pt idx="4">
                    <c:v>STLabs
(#2)</c:v>
                  </c:pt>
                  <c:pt idx="5">
                    <c:v>adityakadam
(#1)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0.107</c:v>
                </c:pt>
                <c:pt idx="1">
                  <c:v>0.216</c:v>
                </c:pt>
                <c:pt idx="2">
                  <c:v>0.5621</c:v>
                </c:pt>
                <c:pt idx="3">
                  <c:v>0.6234</c:v>
                </c:pt>
                <c:pt idx="4">
                  <c:v>0.6256</c:v>
                </c:pt>
                <c:pt idx="5">
                  <c:v>0.6165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A8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A85"/>
                    </a:solidFill>
                    <a:latin typeface="Arial"/>
                  </a:rPr>
                  <a:t>char-IoU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724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103120"/>
            <a:ext cx="5486400" cy="54864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E8703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RESEARCH PROJECT — PROGRESS REVIEW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Neuro-Symbolic Pipeline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Knowledge-Graph-Enhanced Local LLMs with Active Learning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(Preprocessing) → Stage 2 (Extraction &amp; Normalization) → Stage 3 (MoLLM Ensemble Validation)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2926080" cy="0"/>
          </a:xfrm>
          <a:prstGeom prst="line">
            <a:avLst/>
          </a:prstGeom>
          <a:noFill/>
          <a:ln w="31750">
            <a:solidFill>
              <a:srgbClr val="E870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Meeting  ·  11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covers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772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600200"/>
            <a:ext cx="4663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architecture recap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63640" y="1600200"/>
            <a:ext cx="53949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proposal objectives and the 5-stage pipeline design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67712"/>
            <a:ext cx="7772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267712"/>
            <a:ext cx="4663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63640" y="2267712"/>
            <a:ext cx="53949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DrivenData / PhysioNet SNOMED CT Entity Linking Challenge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935224"/>
            <a:ext cx="7772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2935224"/>
            <a:ext cx="4663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 and working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3640" y="2935224"/>
            <a:ext cx="53949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→ 2 → 3, with measured results from this week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602736"/>
            <a:ext cx="7772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3602736"/>
            <a:ext cx="4663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Stage 3 uses Stage 1 &amp; 2 output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3602736"/>
            <a:ext cx="53949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contract and retrieval that ground the LLM ensemble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270248"/>
            <a:ext cx="7772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4270248"/>
            <a:ext cx="4663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4270248"/>
            <a:ext cx="53949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stage's output improves the next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937760"/>
            <a:ext cx="7772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63040" y="4937760"/>
            <a:ext cx="4663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 vs. the benchmark, honestly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4937760"/>
            <a:ext cx="53949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what we haven't built yet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605272"/>
            <a:ext cx="7772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5605272"/>
            <a:ext cx="4663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mitigations, and next steps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63640" y="5605272"/>
            <a:ext cx="53949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proposal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00784"/>
            <a:ext cx="512064" cy="512064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07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645920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+ Ontology Integration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06440" y="1645920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local LLMs against a domain knowledge graph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4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542032"/>
            <a:ext cx="512064" cy="512064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420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2487168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Neuro-Symbolic Prompting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06440" y="248716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KG-grounded context into LLM validation — the thesis's central novelty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4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383280"/>
            <a:ext cx="512064" cy="512064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83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3328416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 / Feedback Loop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06440" y="3328416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Uncertainty-based HITL routing and KG write-back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12394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4F7F9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224528"/>
            <a:ext cx="512064" cy="512064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245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00200" y="4169664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Repurposing + KG Embeddings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06440" y="4169664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accumulated triples into graph embeddings over time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96519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4F7F9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065776"/>
            <a:ext cx="512064" cy="512064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06577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00200" y="5010912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Cost-Benefit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06440" y="5010912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vs. a baseline, and annotation-effort reduction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(KG-grounded LLM validation) is the load-bearing claim of the whole thesis — everything else supports it.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Five-stage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965960"/>
            <a:ext cx="1965960" cy="502920"/>
          </a:xfrm>
          <a:prstGeom prst="roundRect">
            <a:avLst>
              <a:gd name="adj" fmla="val 16364"/>
            </a:avLst>
          </a:prstGeom>
          <a:solidFill>
            <a:srgbClr val="0B3D5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2221992"/>
            <a:ext cx="1965960" cy="246888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659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" y="256032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3044952"/>
            <a:ext cx="1819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Tokenize, expand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abbreviations,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offsets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8972" y="3867912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2C7A4B"/>
          </a:solidFill>
          <a:ln/>
        </p:spPr>
      </p:sp>
      <p:sp>
        <p:nvSpPr>
          <p:cNvPr id="11" name="Text 9"/>
          <p:cNvSpPr/>
          <p:nvPr/>
        </p:nvSpPr>
        <p:spPr>
          <a:xfrm>
            <a:off x="918972" y="3867912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68880" y="278892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788920" y="196596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88920" y="1965960"/>
            <a:ext cx="1965960" cy="502920"/>
          </a:xfrm>
          <a:prstGeom prst="roundRect">
            <a:avLst>
              <a:gd name="adj" fmla="val 16364"/>
            </a:avLst>
          </a:prstGeom>
          <a:solidFill>
            <a:srgbClr val="0B3D5C"/>
          </a:solidFill>
          <a:ln/>
        </p:spPr>
      </p:sp>
      <p:sp>
        <p:nvSpPr>
          <p:cNvPr id="15" name="Shape 13"/>
          <p:cNvSpPr/>
          <p:nvPr/>
        </p:nvSpPr>
        <p:spPr>
          <a:xfrm>
            <a:off x="2788920" y="2221992"/>
            <a:ext cx="1965960" cy="246888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16" name="Text 14"/>
          <p:cNvSpPr/>
          <p:nvPr/>
        </p:nvSpPr>
        <p:spPr>
          <a:xfrm>
            <a:off x="2788920" y="19659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62072" y="256032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62072" y="3044952"/>
            <a:ext cx="1819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GLiNER-BioMed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+ relations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assertion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4972" y="3867912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2C7A4B"/>
          </a:solidFill>
          <a:ln/>
        </p:spPr>
      </p:sp>
      <p:sp>
        <p:nvSpPr>
          <p:cNvPr id="20" name="Text 18"/>
          <p:cNvSpPr/>
          <p:nvPr/>
        </p:nvSpPr>
        <p:spPr>
          <a:xfrm>
            <a:off x="3204972" y="3867912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278892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5074920" y="196596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74920" y="1965960"/>
            <a:ext cx="1965960" cy="502920"/>
          </a:xfrm>
          <a:prstGeom prst="roundRect">
            <a:avLst>
              <a:gd name="adj" fmla="val 16364"/>
            </a:avLst>
          </a:prstGeom>
          <a:solidFill>
            <a:srgbClr val="0B3D5C"/>
          </a:solidFill>
          <a:ln/>
        </p:spPr>
      </p:sp>
      <p:sp>
        <p:nvSpPr>
          <p:cNvPr id="24" name="Shape 22"/>
          <p:cNvSpPr/>
          <p:nvPr/>
        </p:nvSpPr>
        <p:spPr>
          <a:xfrm>
            <a:off x="5074920" y="2221992"/>
            <a:ext cx="1965960" cy="246888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19659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48072" y="256032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48072" y="3044952"/>
            <a:ext cx="1819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OMOP / SNOMED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concept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90972" y="3867912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2C7A4B"/>
          </a:solidFill>
          <a:ln/>
        </p:spPr>
      </p:sp>
      <p:sp>
        <p:nvSpPr>
          <p:cNvPr id="29" name="Text 27"/>
          <p:cNvSpPr/>
          <p:nvPr/>
        </p:nvSpPr>
        <p:spPr>
          <a:xfrm>
            <a:off x="5490972" y="3867912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40880" y="278892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7360920" y="196596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60920" y="1965960"/>
            <a:ext cx="1965960" cy="502920"/>
          </a:xfrm>
          <a:prstGeom prst="roundRect">
            <a:avLst>
              <a:gd name="adj" fmla="val 16364"/>
            </a:avLst>
          </a:prstGeom>
          <a:solidFill>
            <a:srgbClr val="0B3D5C"/>
          </a:solidFill>
          <a:ln/>
        </p:spPr>
      </p:sp>
      <p:sp>
        <p:nvSpPr>
          <p:cNvPr id="33" name="Shape 31"/>
          <p:cNvSpPr/>
          <p:nvPr/>
        </p:nvSpPr>
        <p:spPr>
          <a:xfrm>
            <a:off x="7360920" y="2221992"/>
            <a:ext cx="1965960" cy="246888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34" name="Text 32"/>
          <p:cNvSpPr/>
          <p:nvPr/>
        </p:nvSpPr>
        <p:spPr>
          <a:xfrm>
            <a:off x="7360920" y="19659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34072" y="256032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MoLLM Validation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34072" y="3044952"/>
            <a:ext cx="1819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BioMistral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OpenBioLLM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776972" y="3867912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2C7A4B"/>
          </a:solidFill>
          <a:ln/>
        </p:spPr>
      </p:sp>
      <p:sp>
        <p:nvSpPr>
          <p:cNvPr id="38" name="Text 36"/>
          <p:cNvSpPr/>
          <p:nvPr/>
        </p:nvSpPr>
        <p:spPr>
          <a:xfrm>
            <a:off x="7776972" y="3867912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326880" y="278892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9646920" y="196596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646920" y="1965960"/>
            <a:ext cx="1965960" cy="502920"/>
          </a:xfrm>
          <a:prstGeom prst="roundRect">
            <a:avLst>
              <a:gd name="adj" fmla="val 16364"/>
            </a:avLst>
          </a:prstGeom>
          <a:solidFill>
            <a:srgbClr val="0B3D5C"/>
          </a:solidFill>
          <a:ln/>
        </p:spPr>
      </p:sp>
      <p:sp>
        <p:nvSpPr>
          <p:cNvPr id="42" name="Shape 40"/>
          <p:cNvSpPr/>
          <p:nvPr/>
        </p:nvSpPr>
        <p:spPr>
          <a:xfrm>
            <a:off x="9646920" y="2221992"/>
            <a:ext cx="1965960" cy="246888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43" name="Text 41"/>
          <p:cNvSpPr/>
          <p:nvPr/>
        </p:nvSpPr>
        <p:spPr>
          <a:xfrm>
            <a:off x="9646920" y="19659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4/5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720072" y="256032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HITL + Active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720072" y="3044952"/>
            <a:ext cx="1819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write-back,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0062972" y="3867912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B0483C"/>
          </a:solidFill>
          <a:ln/>
        </p:spPr>
      </p:sp>
      <p:sp>
        <p:nvSpPr>
          <p:cNvPr id="47" name="Text 45"/>
          <p:cNvSpPr/>
          <p:nvPr/>
        </p:nvSpPr>
        <p:spPr>
          <a:xfrm>
            <a:off x="10062972" y="3867912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2920" y="46177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end-to-end today: Stage 1 → 2a → 2b → 3, individually verified and live-tested against real vLLM endpoints. Not yet wired into one batch run.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02920" y="5074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4–5 (human-in-the-loop review, KG write-back, active-learning feedback) are designed but not yet implemented — Objective 3 currently has no code.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DrivenData SNOMED CT Entity Linking Challenge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MIMIC-IV discharge notes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10128" y="16002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/>
        </p:spPr>
      </p:sp>
      <p:sp>
        <p:nvSpPr>
          <p:cNvPr id="8" name="Text 6"/>
          <p:cNvSpPr/>
          <p:nvPr/>
        </p:nvSpPr>
        <p:spPr>
          <a:xfrm>
            <a:off x="3310128" y="16916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75,491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47288" y="2286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span + concept annotations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71616" y="16002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/>
        </p:spPr>
      </p:sp>
      <p:sp>
        <p:nvSpPr>
          <p:cNvPr id="11" name="Text 9"/>
          <p:cNvSpPr/>
          <p:nvPr/>
        </p:nvSpPr>
        <p:spPr>
          <a:xfrm>
            <a:off x="6071616" y="16916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6,595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08776" y="2286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SNOMED concepts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33104" y="16002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/>
        </p:spPr>
      </p:sp>
      <p:sp>
        <p:nvSpPr>
          <p:cNvPr id="14" name="Text 12"/>
          <p:cNvSpPr/>
          <p:nvPr/>
        </p:nvSpPr>
        <p:spPr>
          <a:xfrm>
            <a:off x="8833104" y="16916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204 / 68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970264" y="2286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train / test note split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364992"/>
            <a:ext cx="5486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 PhysioNet “Challenge” release (v1.2.0) of the live, ongoing DrivenData Benchmark. We use this version because it ships the test-set gold labels directly — the live benchmark's test set is hidden.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936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metric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3364992"/>
            <a:ext cx="5349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Character-level Intersection-over-Union (macro + support-weighted). Concept IDs must match exactly — no partial or hierarchy credit. Not precision/recall/F1.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0B3D5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074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benchmark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53949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expert-annotated, held-out gold standard — not a dataset we curated ourselves. It lets us make a falsifiable claim instead of an internally-graded one, and it's the same corpus a live public leaderboard scores against.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STAGE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274320" cy="27432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09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6916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scispaCy tokenization + word-boundary abbreviation expansion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7248"/>
            <a:ext cx="274320" cy="27432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272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Multi-expansion dictionary: every known meaning of an ambiguous abbreviation is kept and flagged (e.g. MS → multiple sclerosis / mitral stenosis / morphine sulfate), not silently collapsed to 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44568"/>
            <a:ext cx="274320" cy="27432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5445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45262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Character-offset “time machine”: every span traced back from expanded text to the original note, exactly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709928"/>
            <a:ext cx="274320" cy="27432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709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16916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section segmentation persisted (History of Present Illness, Family History, Discharge Instructions, …)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127248"/>
            <a:ext cx="274320" cy="27432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1272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31089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boundaries persisted for downstream context windows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4544568"/>
            <a:ext cx="274320" cy="27432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45445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45262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Stage 1 provenance schema implemented: expansions, offsets, ambiguity flags, dictionary version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4F7F9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this is the “white-box, deterministic, traceable” claim in the proposal's ethics section — now measured, not asserted.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STAGE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 (2a) &amp; Normalization (2b)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256032" cy="256032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64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2688" y="1600200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GLiNER-BioMed zero-shot NER, 6 clinical entity types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256032" cy="256032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243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2560320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assertion detection (medspacy): PRESENT / ABSENT / POSSIBLE / CONDITIONAL, plus experiencer &amp; temporality — catches the 20.9% of spans that are negated, historical, or about a family member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256032" cy="256032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84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3520440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extraction (GLiNER-relex), offset-linked to entities — 100% of relation endpoints now resolve, up from 33%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544568"/>
            <a:ext cx="256032" cy="256032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5445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448056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OMOP/SNOMED linking (exact → synonym → SapBERT semantic), domain-filtered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21808"/>
            <a:ext cx="256032" cy="256032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3218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525780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Compound-span splitting, qualifier-prefix growing, lab-flowsheet suffix handling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2b normalization — this week's gap-fix cycle</a:t>
            </a:r>
            <a:endParaRPr lang="en-US" sz="13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263640" y="2011680"/>
          <a:ext cx="539496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6263640" y="49834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caught &amp; reverted via EC2 measurement before it shipped — self-diagnosed from a single spurious match (“heart” → unrelated concept).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8640" y="5989320"/>
            <a:ext cx="5532120" cy="548640"/>
          </a:xfrm>
          <a:prstGeom prst="roundRect">
            <a:avLst>
              <a:gd name="adj" fmla="val 13333"/>
            </a:avLst>
          </a:prstGeom>
          <a:solidFill>
            <a:srgbClr val="F4F7F9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598932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→ diagnose → fix → re-measure on EC2, every step.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STAGE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MoLLM ensemble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5623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BioMistral-7B-AWQ + OpenBioLLM-Llama3-8B-AWQ — different base models (Mistral vs. Llama-3) so errors aren't correlated by shared pretraining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5623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graph (KG1)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258568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1,314 nodes / 871 rules from 10 curated clinical guidelines (KDIGO, AHA/ACC, GOLD, SSC, NPSG/ESI), retrieved via 4 channels: direct code, hierarchy (≤ 3 hops), ontology context, semantic fallback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05079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guard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verification forces evidence to come only from what was actually retrieved — caught 6/10 fabricated citations in the first live test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8862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05079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Live-tested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4453128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 records run end-to-end against real vLLM endpoints; 31 unit tests on the safety rules, verified by mutation; outputs bit-identical across repeated runs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MoLLM consumes Stage 1 &amp; 2 output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performs no re-extraction — it validates one ValidationRecord per entity, assembled entirely from upstream fields: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Stage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expanded_text + section_name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sentence-bounded local_context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expansion_applied / ambiguous / candidate_expansions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205740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Stage 2a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25603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original_text, gliner_label/confidence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80560" y="30175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assertion_status, experiencer, temporality + cue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80560" y="34747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relations[] linked by entity_id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205740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Stage 2b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25603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candidates[] — 1 (HIGH) or top-3 (LOW)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0" y="30175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match_tier, similarity_score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0" y="34747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confidence_tier_in — the routing gate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23560" y="3977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343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4-channel retrieval assembles evidence → fixed prompt (entity + assertion + context + candidates + relations + evidence) → HIGH-tier: contradiction check · LOW-tier: resolution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CEFE8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440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gate before the model ever sees it: assertion_status = ABSENT or experiencer ≠ PATIENT skips guideline retrieval entirely, by rule — not by asking the LLM to notice the negation itself.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stage's data improves the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philosophy: fields accumulate, they never get overwritten. Any fact can be traced back to the exact evidence that produced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667512"/>
          </a:xfrm>
          <a:prstGeom prst="roundRect">
            <a:avLst>
              <a:gd name="adj" fmla="val 8219"/>
            </a:avLst>
          </a:prstGeom>
          <a:solidFill>
            <a:srgbClr val="F4F7F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12801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2148840"/>
            <a:ext cx="28346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note_expansions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83480" y="2148840"/>
            <a:ext cx="64922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abbreviation, expansion, dual offsets, ambiguity flag, dictionary version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106424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26080"/>
            <a:ext cx="12801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2926080"/>
            <a:ext cx="28346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extracted_entities / _relations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83480" y="2926080"/>
            <a:ext cx="64922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entity_id, dual offsets, assertion block, section/sentence id, relation links by offset overlap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11064240" cy="667512"/>
          </a:xfrm>
          <a:prstGeom prst="roundRect">
            <a:avLst>
              <a:gd name="adj" fmla="val 8219"/>
            </a:avLst>
          </a:prstGeom>
          <a:solidFill>
            <a:srgbClr val="F4F7F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03320"/>
            <a:ext cx="12801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3703320"/>
            <a:ext cx="28346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to entity record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83480" y="3703320"/>
            <a:ext cx="64922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match_tier, concept_id, domain_id_queried, tier_trace, normalized_from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1106424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80560"/>
            <a:ext cx="12801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4480560"/>
            <a:ext cx="28346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mollm_decisions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83480" y="4480560"/>
            <a:ext cx="64922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retrieved_context, per-model reasoning/verdict/citation, ensemble_agreement, routing_decision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B3D5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44068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Stage 3 can reason over assertion status, tier trace, and retrieval provenance instead of re-deriving them from raw text. Full schema implemented for Stages 1–2b (verified 2026-08-09); Stage 3 decisions persisted for every live-tested record.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stand vs. the benchmark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11247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846320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FCEFE8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983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carefully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5321808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sit well below even the lowest reference baseline — that's a real, unflattering number, not softened. But it isn't apples-to-apples: our score is computed on a 3-note internal sample from the training set (the withheld official test set isn't available to us), while the leaderboard scores ~25 held-out notes. Top solutions are also purpose-built dictionary/neural linkers; our Stage 2 exists to feed Stage 3's grounded validation, which none of these numbers include yet.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live Stage 3 run (10 records)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01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 routed to HITL_REQUIRED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safety rule fired as designed. The problem was that retrieval had almost no guideline evidence to give the model — not that the routing logic failed.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44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guard caught 6/10 fabrications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26440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invented rule citations when told “no evidence retrieved.” The verification step — not the prompt — is what caught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087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agreement failed on a wrong answer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440740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confidently picked the same incorrect concept for a misspelled drug (“spirnolactone”). Diverse base models did not prevent a correlated error — only the citation check stopped it. Direct evidence for the thesis's “consensus alone is insufficient” argument.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110642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230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aren't calibrated yet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555040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Logprob confidence stayed flat (0.80–0.95) regardless of correctness; self-reported confidence is a per-model bias, not a per-record signal.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foresee, and how we plan to address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51660"/>
            <a:ext cx="274320" cy="27432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516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coverage is thin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794760" y="16459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8.53% of entities get guideline-grounded evidence.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06640" y="16459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Done. Merged 25 never-grounded corpus files + curated rules onto the 41 rule-less nodes: 8.53% → 28.10% guarded coverage, confirmed on EC2. 14 low-frequency nodes remain.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628900"/>
            <a:ext cx="274320" cy="274320"/>
          </a:xfrm>
          <a:prstGeom prst="ellipse">
            <a:avLst/>
          </a:prstGeom>
          <a:solidFill>
            <a:srgbClr val="B0483C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6289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4231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KG has code collisions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94760" y="24231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~47% of multi-name SNOMED codes in the guideline corpus attach unrelated concepts.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06640" y="24231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Name-agreement guard mitigates at retrieval time; source data itself still needs a cleanup pass.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3406140"/>
            <a:ext cx="274320" cy="274320"/>
          </a:xfrm>
          <a:prstGeom prst="ellipse">
            <a:avLst/>
          </a:prstGeom>
          <a:solidFill>
            <a:srgbClr val="B0483C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4061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2004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fabricate citations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794760" y="32004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 records invented evidence when none was retrieved.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06640" y="32004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the fix directly: made citation optional when 0 rules retrieved, re-ran the same records. Fabrication held at 5/7 — confirms this is real model behavior, not a schema artifact.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4183380"/>
            <a:ext cx="274320" cy="27432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41833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9776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fuzzy-match channel in Stage 2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794760" y="39776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Misspellings (“spirnolactone”) send the wrong candidate list to Stage 3.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06640" y="39776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Done. Added a levenshtein()-based fallback + revised the resolution prompt. “spirnolactone” now resolves to spironolactone at 0.964 confidence, up from the wrong answer’s 0.916.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75488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960620"/>
            <a:ext cx="274320" cy="274320"/>
          </a:xfrm>
          <a:prstGeom prst="ellipse">
            <a:avLst/>
          </a:prstGeom>
          <a:solidFill>
            <a:srgbClr val="E8703A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9606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47548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isn't calibrated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794760" y="47548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thresholds are unjustifiable numbers.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06640" y="47548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tooling built (evaluation/cal_eval.py) and run against a gold note: ECE = 0.75, 16.7% accuracy at 92% mean confidence. First real number — n=6, not yet a production fit.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713232" y="5737860"/>
            <a:ext cx="274320" cy="274320"/>
          </a:xfrm>
          <a:prstGeom prst="ellipse">
            <a:avLst/>
          </a:prstGeom>
          <a:solidFill>
            <a:srgbClr val="B0483C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" y="57378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97280" y="55321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4–5 don't exist yet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794760" y="55321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HITL queue, no KG write-back, no active-learning loop.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06640" y="55321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after Stage 3 stabilizes — gated behind Stage 3's confidence, not Stage 2 alone, to avoid a pseudo-labeling feedback loop.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build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84048" cy="384048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27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600200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rules onto the 41 rule-less guideline nodes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949440" y="1600200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— 8.53% → 28.10% guarded coverage, confirmed on EC2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384048" cy="384048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04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276856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cited_evidence-optional prompt change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49440" y="2276856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— fabrication unchanged (5/7); confirms the citation guard is necessary, not a schema artifact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80944"/>
            <a:ext cx="384048" cy="384048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80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953512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NONE_CORRECT prompt fix + typo-tolerant Stage 2 channel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49440" y="2953512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— spirnolactone now resolves to spironolactone at 0.964 confidence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630168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labelled calibration set, fit thresholds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49440" y="3630168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(tooling + first number) — ECE = 0.75 on 6 gradable decisions; not yet a production fit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342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334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306824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Stage 3 into a real batch pipeline runner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949440" y="4306824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a one-note diagnostic script; no resume-after-failure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1091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010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4983480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Stage 4 (HITL queue) and Stage 5 (KG write-back)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49440" y="4983480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 — gated behind Stage 3's calibrated confidence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68756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687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97280" y="5660136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benchmark comparison on the full 272-note corpus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949440" y="5660136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3-note internal sample with a real number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not yet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HITL routing &amp; UI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89520" y="1874520"/>
            <a:ext cx="3794760" cy="347472"/>
          </a:xfrm>
          <a:prstGeom prst="roundRect">
            <a:avLst>
              <a:gd name="adj" fmla="val 50000"/>
            </a:avLst>
          </a:prstGeom>
          <a:solidFill>
            <a:srgbClr val="B0483C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87452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32888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— Active learning feedback loop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0" y="2715768"/>
            <a:ext cx="3794760" cy="347472"/>
          </a:xfrm>
          <a:prstGeom prst="roundRect">
            <a:avLst>
              <a:gd name="adj" fmla="val 50000"/>
            </a:avLst>
          </a:prstGeom>
          <a:solidFill>
            <a:srgbClr val="B0483C"/>
          </a:solidFill>
          <a:ln/>
        </p:spPr>
      </p:sp>
      <p:sp>
        <p:nvSpPr>
          <p:cNvPr id="11" name="Text 9"/>
          <p:cNvSpPr/>
          <p:nvPr/>
        </p:nvSpPr>
        <p:spPr>
          <a:xfrm>
            <a:off x="7635240" y="271576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374136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Neo4j/Memgraph KG ingestion (as originally scoped)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3557016"/>
            <a:ext cx="3794760" cy="347472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/>
        </p:spPr>
      </p:sp>
      <p:sp>
        <p:nvSpPr>
          <p:cNvPr id="15" name="Text 13"/>
          <p:cNvSpPr/>
          <p:nvPr/>
        </p:nvSpPr>
        <p:spPr>
          <a:xfrm>
            <a:off x="7635240" y="355701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 — KG1 built in-process from curated JSON triplets instead, works today, docs need reconciling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15384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eval_suite.py / cal_eval.py / ablations.py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0" y="4398264"/>
            <a:ext cx="3794760" cy="347472"/>
          </a:xfrm>
          <a:prstGeom prst="roundRect">
            <a:avLst>
              <a:gd name="adj" fmla="val 50000"/>
            </a:avLst>
          </a:prstGeom>
          <a:solidFill>
            <a:srgbClr val="E8703A"/>
          </a:solidFill>
          <a:ln/>
        </p:spPr>
      </p:sp>
      <p:sp>
        <p:nvSpPr>
          <p:cNvPr id="19" name="Text 17"/>
          <p:cNvSpPr/>
          <p:nvPr/>
        </p:nvSpPr>
        <p:spPr>
          <a:xfrm>
            <a:off x="7635240" y="439826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cal_eval.py built — ECE=0.75 first number; eval_suite.py/ablations.py still not written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056632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KG3 write-back / dataset-repurposing embeddings (Obj. 4)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589520" y="5239512"/>
            <a:ext cx="3794760" cy="347472"/>
          </a:xfrm>
          <a:prstGeom prst="roundRect">
            <a:avLst>
              <a:gd name="adj" fmla="val 50000"/>
            </a:avLst>
          </a:prstGeom>
          <a:solidFill>
            <a:srgbClr val="B0483C"/>
          </a:solidFill>
          <a:ln/>
        </p:spPr>
      </p:sp>
      <p:sp>
        <p:nvSpPr>
          <p:cNvPr id="23" name="Text 21"/>
          <p:cNvSpPr/>
          <p:nvPr/>
        </p:nvSpPr>
        <p:spPr>
          <a:xfrm>
            <a:off x="7635240" y="523951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only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scope creep away from the proposal — if anything the design is more rigorous than required (three-KG split, explicit provenance schema, self-flagged confounds). The gap is implementation maturity on Objective 3, not scope drift.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1–3 built and measured  ·  Stage 4–5 next  ·  Full 272-note benchmark run pending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069080"/>
            <a:ext cx="2926080" cy="0"/>
          </a:xfrm>
          <a:prstGeom prst="line">
            <a:avLst/>
          </a:prstGeom>
          <a:noFill/>
          <a:ln w="31750">
            <a:solidFill>
              <a:srgbClr val="E870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THIS WEEK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Re-tested against last review’s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01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coverage: 8.53% → 28.10%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25 never-grounded corpus files and curated rules onto the 41 rule-less nodes. +19.57pp — beyond the +3.25pp estimate, since most of the lift was a corpus-completeness gap found along the way. Confirmed on EC2.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44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fabrication: unchanged after the fix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26440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whether a required cited_evidence field was inducing fabrication under guided decoding — made it optional, re-ran the same records. Fabrication held at 5/7. The guard is catching real model behavior, not a structured-output artifact.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087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spirnolactone now resolves correctly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440740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an edit-distance fallback and revised the resolution prompt. Both models now resolve the misspelled drug to spironolactone at 0.964 confidence — higher than the original wrong answer’s 0.916.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110642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230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calibration number: ECE = 0.75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555040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calibration tooling and ran it against a gold note: 6 gradable resolution decisions, 92% mean confidence, 16.7% actual accuracy. At today’s 0.85 threshold, 5 of 6 would have auto-validated wrongly. n=6 — a starting point, not a production fit.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2026-08-10T23:00:46Z</dcterms:created>
  <dcterms:modified xsi:type="dcterms:W3CDTF">2026-08-10T23:00:46Z</dcterms:modified>
</cp:coreProperties>
</file>